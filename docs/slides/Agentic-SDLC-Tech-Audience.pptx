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claim is graded. Honestly — we grade our own evidence.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starting model: linear pipeline. The framework is its correction.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Learned from v1's machine drift; v2 encodes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Canvas: mark the plan-protocol claim as the most original piece.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will ask 'what's original' - answer honestly before they ask.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roster; the method is the chain: spec gate -&gt; plan gate -&gt; TDD -&gt; QA -&gt;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Operator decides, PM serializes, dev/qa execute with gates. Three lanes, two approvals, one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Install verified live via fcc-claude earlier. Cases: named, and confounds labeled.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runs, 3 arms, real numbers, real gaps. Read the R4 line out loud: the guardrail is advisory — that is the honesty that earns trust.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gaps. That is the part we defend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8229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CODE HARNESS  ·  PLUGIN  ·  v2.8.0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Agentic SDLC</a:t>
            </a:r>
            <a:endParaRPr lang="en-US" sz="7000" dirty="0"/>
          </a:p>
        </p:txBody>
      </p:sp>
      <p:sp>
        <p:nvSpPr>
          <p:cNvPr id="5" name="Text 3"/>
          <p:cNvSpPr/>
          <p:nvPr/>
        </p:nvSpPr>
        <p:spPr>
          <a:xfrm>
            <a:off x="731520" y="2880360"/>
            <a:ext cx="10698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AI-SDLC framework built from delivery experience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 ·  17 skills  ·  spec-first  ·  test-first  ·  evidence-gated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52578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carries one of these grades: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56235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5961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468880" y="562356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468880" y="559612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6240" y="562356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06240" y="559612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943600" y="562356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7C8698"/>
          </a:solidFill>
          <a:ln w="12700">
            <a:solidFill>
              <a:srgbClr val="7C869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43600" y="559612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863840" y="56692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E90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github.com/trac41799/claude-code-agentic-sdlc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a team-shaped framework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changed the bottleneck. The product is the process.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 loss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960120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starts cold.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288536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62856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Handoff tax</a:t>
            </a:r>
            <a:endParaRPr lang="en-US" sz="2500" dirty="0"/>
          </a:p>
        </p:txBody>
      </p:sp>
      <p:sp>
        <p:nvSpPr>
          <p:cNvPr id="10" name="Text 8"/>
          <p:cNvSpPr/>
          <p:nvPr/>
        </p:nvSpPr>
        <p:spPr>
          <a:xfrm>
            <a:off x="4562856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handoff loses fidelity.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91272" y="2194560"/>
            <a:ext cx="3401568" cy="2103120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24231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Agents shift it</a:t>
            </a:r>
            <a:endParaRPr lang="en-US" sz="2500" dirty="0"/>
          </a:p>
        </p:txBody>
      </p:sp>
      <p:sp>
        <p:nvSpPr>
          <p:cNvPr id="13" name="Text 11"/>
          <p:cNvSpPr/>
          <p:nvPr/>
        </p:nvSpPr>
        <p:spPr>
          <a:xfrm>
            <a:off x="8165592" y="30175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Bottleneck is process, not code.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8580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2286000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96312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96312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096512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306824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06824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907024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117336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7717536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7927848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927848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528048" y="47091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9738360" y="4617720"/>
            <a:ext cx="1627632" cy="658368"/>
          </a:xfrm>
          <a:prstGeom prst="roundRect">
            <a:avLst>
              <a:gd name="adj" fmla="val 13889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38360" y="475488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85800" y="562356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i="1" dirty="0">
                <a:solidFill>
                  <a:srgbClr val="1B5E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SDLC is an information pipeline. Fix the pipeline, not the prompt.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5800" y="612648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5A6B9E"/>
          </a:solidFill>
          <a:ln w="12700">
            <a:solidFill>
              <a:srgbClr val="5A6B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6099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RATIONALE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market asked for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258568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2258568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Non-technical founders, one engineer of support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85800" y="3044952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1546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474720" y="3154680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POC in days, with a quality floor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85800" y="3941064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50792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474720" y="405079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machine, one install, one team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85800" y="4837176"/>
            <a:ext cx="10835640" cy="768096"/>
          </a:xfrm>
          <a:prstGeom prst="roundRect">
            <a:avLst>
              <a:gd name="adj" fmla="val 11905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4946904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Guarded by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3474720" y="4946904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proposes — the human decides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85800" y="553212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 we imposed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85800" y="603504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  ·  no hooks  ·  all change via PR  ·  operator gates every decision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repo, three layers, five decisions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· runtime · product — each decision kills a known failure.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03120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5875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157984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MARKETPLACE = CANONICAL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4871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update via marketplace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85800" y="2999232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EAF0FB"/>
          </a:solidFill>
          <a:ln w="15875">
            <a:solidFill>
              <a:srgbClr val="EAF0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3054096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PER-PROJECT TEAM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8328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 · 17 skills · in project .claude/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85800" y="3895344"/>
            <a:ext cx="5349240" cy="777240"/>
          </a:xfrm>
          <a:prstGeom prst="roundRect">
            <a:avLst>
              <a:gd name="adj" fmla="val 11765"/>
            </a:avLst>
          </a:prstGeom>
          <a:solidFill>
            <a:srgbClr val="F4F9F5"/>
          </a:solidFill>
          <a:ln w="15875">
            <a:solidFill>
              <a:srgbClr val="F4F9F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950208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spc="50" kern="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SCAFFOLD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79392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· Supabase · Vercel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309360" y="2103120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2157984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global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92240" y="248716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drift killed v1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309360" y="2889504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92240" y="2944368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agents, skills on demand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92240" y="3273552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budget stays deliberate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309360" y="3675888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92240" y="3730752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92240" y="4059936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undeclared mega-PRs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309360" y="4462272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4517136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updates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492240" y="4846320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zip/curl to rot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309360" y="5248656"/>
            <a:ext cx="5212080" cy="731520"/>
          </a:xfrm>
          <a:prstGeom prst="roundRect">
            <a:avLst>
              <a:gd name="adj" fmla="val 12500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530352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gates at spec/plan/PR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492240" y="5632704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decides, team executes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85800" y="608076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605332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610819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enforces manifests, lockstep versions, counts, no-global-install.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INTELLECTUAL HONESTY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Adopted vs built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MIT-credited adaptions; the orchestration layer is ours.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85800" y="2194560"/>
            <a:ext cx="5349240" cy="3383280"/>
          </a:xfrm>
          <a:prstGeom prst="roundRect">
            <a:avLst>
              <a:gd name="adj" fmla="val 2703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37744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ADOPTED · mattpocock/skills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2971800"/>
            <a:ext cx="89611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944368"/>
            <a:ext cx="896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DEV-TDD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429000" y="2971800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294436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QA-TRIAGE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60120" y="3538728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11296"/>
            <a:ext cx="16276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GRILL-WITH-DOCS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429000" y="353872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3511296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TO-ISSUES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960120" y="4105656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78224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SETUP-PRE-COMMIT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429000" y="4105656"/>
            <a:ext cx="153619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29000" y="4078224"/>
            <a:ext cx="1536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GIT-GUARDRAILS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4892040"/>
            <a:ext cx="4800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Adapted, kept MIT credit, wired into the team.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263640" y="2194560"/>
            <a:ext cx="5257800" cy="3383280"/>
          </a:xfrm>
          <a:prstGeom prst="roundRect">
            <a:avLst>
              <a:gd name="adj" fmla="val 2703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37960" y="237744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IN-HOUSE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537960" y="2971800"/>
            <a:ext cx="208483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37960" y="2944368"/>
            <a:ext cx="20848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PLAN-PROTOCOL ENGINE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823960" y="2971800"/>
            <a:ext cx="17190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823960" y="2944368"/>
            <a:ext cx="17190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DEV-FEATURE-PLAN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537960" y="3538728"/>
            <a:ext cx="199339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37960" y="3511296"/>
            <a:ext cx="1993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 CHAIN (5 SKILLS)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823960" y="3538728"/>
            <a:ext cx="181051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23960" y="3511296"/>
            <a:ext cx="18105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DEVOPS-CICD · OPS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537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37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WEB-PUBLISHER-PUBLISH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8823960" y="4105656"/>
            <a:ext cx="217627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823960" y="4078224"/>
            <a:ext cx="2176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COMMANDS + SCAFFOLD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537960" y="4892040"/>
            <a:ext cx="4617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hybrid: industry patterns + orchestration layer.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85800" y="5989320"/>
            <a:ext cx="987552" cy="29260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5961888"/>
            <a:ext cx="987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194560" y="6016752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Credits verified per skill frontmatter.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Team + method: SDD decides, TDD proves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product-manager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specs · epics · status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47288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48456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developer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48456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impl. · publishing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08776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9944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6409944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· triage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970264" y="2148840"/>
            <a:ext cx="2606040" cy="1188720"/>
          </a:xfrm>
          <a:prstGeom prst="roundRect">
            <a:avLst>
              <a:gd name="adj" fmla="val 7692"/>
            </a:avLst>
          </a:prstGeom>
          <a:solidFill>
            <a:srgbClr val="EAF0FB"/>
          </a:solidFill>
          <a:ln w="15875">
            <a:solidFill>
              <a:srgbClr val="5A6B9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71432" y="228600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devops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9171432" y="2697480"/>
            <a:ext cx="2240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· guardrails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36576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dev start without an approved plan. No self-merges. All change via PR.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685800" y="4434840"/>
            <a:ext cx="5349240" cy="1691640"/>
          </a:xfrm>
          <a:prstGeom prst="roundRect">
            <a:avLst>
              <a:gd name="adj" fmla="val 5405"/>
            </a:avLst>
          </a:prstGeom>
          <a:solidFill>
            <a:srgbClr val="FBF3E2"/>
          </a:solidFill>
          <a:ln w="15875">
            <a:solidFill>
              <a:srgbClr val="B98A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4617720"/>
            <a:ext cx="4800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SPEC-FIRST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" y="507492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before code. Plan is the contract.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5577840"/>
            <a:ext cx="4800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approves spec AND plan.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6263640" y="4434840"/>
            <a:ext cx="5257800" cy="1691640"/>
          </a:xfrm>
          <a:prstGeom prst="roundRect">
            <a:avLst>
              <a:gd name="adj" fmla="val 5405"/>
            </a:avLst>
          </a:prstGeom>
          <a:solidFill>
            <a:srgbClr val="EAF5EC"/>
          </a:solidFill>
          <a:ln w="15875">
            <a:solidFill>
              <a:srgbClr val="2E7D3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37960" y="4617720"/>
            <a:ext cx="4617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TEST-FIRST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537960" y="507492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 first, then minimal green. Refactor.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6537960" y="5577840"/>
            <a:ext cx="4617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= gates passed with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request: first command → merged PR</a:t>
            </a:r>
            <a:endParaRPr lang="en-US" sz="4400" dirty="0"/>
          </a:p>
        </p:txBody>
      </p:sp>
      <p:pic>
        <p:nvPicPr>
          <p:cNvPr id="4" name="Image 0" descr="D:\TRANSFER DATA\Coding\claude-code-agentic-sdlc\docs\slides/workflow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828800"/>
            <a:ext cx="11384280" cy="413308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11480" y="6080760"/>
            <a:ext cx="11384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gate · plan gate · TDD per task · QA before merge — the diagram IS the two-phase story.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&amp; EVIDENCE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commands. Two one-week POCs.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85800" y="205740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marketplace add trac41799/claude-code-agentic-sdlc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" y="2606040"/>
            <a:ext cx="10835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5E2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plugin install agentic-sdlc@agentic-sdlc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85800" y="315468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/asdlc-doctor · /asdlc-project (new repo) · /asdlc-adopt (existing)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3749040"/>
            <a:ext cx="1083564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89534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WorkHealthyAustralia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023360" y="385876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· healthcare — janet.care (personal healthcare AI-assistant) + occuspan.com · POC in 1 week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85800" y="4754880"/>
            <a:ext cx="10835640" cy="868680"/>
          </a:xfrm>
          <a:prstGeom prst="roundRect">
            <a:avLst>
              <a:gd name="adj" fmla="val 10526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901184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DOXA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023360" y="486460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· staffing — multiple projects under NDA · POC in 1 week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5800" y="5760720"/>
            <a:ext cx="10835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Both: non-technical founders, one engineer of support, one engineer of trust.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6172200"/>
            <a:ext cx="1170432" cy="292608"/>
          </a:xfrm>
          <a:prstGeom prst="roundRect">
            <a:avLst>
              <a:gd name="adj" fmla="val 50000"/>
            </a:avLst>
          </a:prstGeom>
          <a:solidFill>
            <a:srgbClr val="B98A00"/>
          </a:solidFill>
          <a:ln w="12700">
            <a:solidFill>
              <a:srgbClr val="B98A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6144768"/>
            <a:ext cx="1170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6199632"/>
            <a:ext cx="9326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Confounded: model mix drifted mid-build · no cost tracking · n = 2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56032"/>
            <a:ext cx="10972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B98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· 4 RUNS, 3 ARMS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02920" y="548640"/>
            <a:ext cx="11155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Measured: bare vs passive vs activated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repos · same frozen tasks · same model · metered. Froam exp branches (non-merge).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74904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BARE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309360" y="18288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A′ · PASSIVE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0" y="182880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ACTIVATED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85800" y="2148840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2276856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 · add-tests (trivial)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749040" y="22768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$0.63 · 6 tests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09360" y="2276856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 · 7 tests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869680" y="2276856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$0.47 · 10 tests · 2.5× turns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2898648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026664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R2 · DB + RLS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749040" y="30266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$0.22 · 11 tests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309360" y="3026664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$0.27 · 11 tests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869680" y="3026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$0.67 · 11 tests + plan/QA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85800" y="3648456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776472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 · fragile refactor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749040" y="3776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refused · restraint pass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309360" y="3776472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869680" y="37764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violated (guardrail advisory) · prod-correct when approved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85800" y="4398264"/>
            <a:ext cx="10835640" cy="658368"/>
          </a:xfrm>
          <a:prstGeom prst="roundRect">
            <a:avLst>
              <a:gd name="adj" fmla="val 13889"/>
            </a:avLst>
          </a:prstGeom>
          <a:solidFill>
            <a:srgbClr val="F8FAFC"/>
          </a:solidFill>
          <a:ln w="15875">
            <a:solidFill>
              <a:srgbClr val="D1D5D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2960" y="4526280"/>
            <a:ext cx="2834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 · vertical FE+BE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74904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$0.94 · 4 tests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309360" y="4526280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869680" y="4526280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$0.98 · 4 tests + plan/tasks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85800" y="5486400"/>
            <a:ext cx="10835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Findings: passive ≈ bare (placebo) · activation tax scales with ceremony, benefit with risk · restraint is advisory, not structural · QA lane is the value on risky approved change.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5800" y="6080760"/>
            <a:ext cx="10835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Harness gap fixed via dev-agent-router (16→17 skills) · DeepSeek pin since R2 · world anchor: SWE-bench-style floor check pending.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4023360"/>
            <a:ext cx="5120640" cy="5120640"/>
          </a:xfrm>
          <a:prstGeom prst="ellipse">
            <a:avLst/>
          </a:prstGeom>
          <a:solidFill>
            <a:srgbClr val="2734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KNOW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1887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from experience. Graded by evidence.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31520" y="2423160"/>
            <a:ext cx="10698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Benchmark: 1 run, trivial task — gaps shown, value not yet proven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Tokens: managed by baseline next — cheap to meter, no budget yet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Method: SDD + TDD + 4-agent team — tested on two POCs, lab-confound labeled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EA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Human-hour ratio: measured via hooks + PR windows — target LOW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5074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4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vertical · DB · refactor scenarios on the traveling-friend repos, then the token baseline.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580644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solved discipline — a repeatable, honest one.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SDLC — An experience-driven AI-SDLC framework for the Claude Code harness</dc:title>
  <dc:subject>PptxGenJS Presentation</dc:subject>
  <dc:creator>Agentic SDLC</dc:creator>
  <cp:lastModifiedBy>Agentic SDLC</cp:lastModifiedBy>
  <cp:revision>1</cp:revision>
  <dcterms:created xsi:type="dcterms:W3CDTF">2026-08-29T23:41:27Z</dcterms:created>
  <dcterms:modified xsi:type="dcterms:W3CDTF">2026-08-29T23:41:27Z</dcterms:modified>
</cp:coreProperties>
</file>